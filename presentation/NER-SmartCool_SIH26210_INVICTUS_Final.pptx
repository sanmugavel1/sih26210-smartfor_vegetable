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24488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eg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4E8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SMART INDIA HACKATHON 2026</a:t>
            </a:r>
            <a:endParaRPr lang="en-US" sz="3400" dirty="0"/>
          </a:p>
        </p:txBody>
      </p:sp>
      <p:pic>
        <p:nvPicPr>
          <p:cNvPr id="3" name="Image 0" descr="bulb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7200" y="1382797"/>
            <a:ext cx="3566160" cy="3813048"/>
          </a:xfrm>
          <a:prstGeom prst="rect">
            <a:avLst/>
          </a:prstGeom>
        </p:spPr>
      </p:pic>
      <p:pic>
        <p:nvPicPr>
          <p:cNvPr id="4" name="Image 1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0" y="91440"/>
            <a:ext cx="731520" cy="82296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1188720"/>
            <a:ext cx="76809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ID – SIH26210</a:t>
            </a:r>
            <a:endParaRPr lang="en-US" sz="22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Title- Student Innovation-Development solutions, keeping in mind the need to enhance the primary sector of India – Agriculture and to manage and process our agriculture produce.</a:t>
            </a:r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Theme- Agriculture, FoodTech &amp; Rural Development</a:t>
            </a:r>
            <a:endParaRPr lang="en-US" sz="22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Category- Hardware</a:t>
            </a:r>
            <a:endParaRPr lang="en-US" sz="22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ID- 159400</a:t>
            </a:r>
            <a:endParaRPr lang="en-US" sz="22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Name: INVICTUS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554480" cy="822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F5FA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18288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INVICTUS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2103120" y="1828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NER-SmartCool: Solar-Powered Smart Mini Cold Storage</a:t>
            </a:r>
            <a:endParaRPr lang="en-US" sz="2600" dirty="0"/>
          </a:p>
        </p:txBody>
      </p:sp>
      <p:pic>
        <p:nvPicPr>
          <p:cNvPr id="5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137160"/>
            <a:ext cx="822960" cy="914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515600" y="1828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5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4A5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4A5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0" y="6390350"/>
            <a:ext cx="12188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Solar-Powered Smart Mini Cold Storage System for Fresh Vegetables in North Eastern Region (NER) with offline data Management and SHT Prediction</a:t>
            </a:r>
          </a:p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1887200" y="6426273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320040" y="1097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F4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320040" y="1600200"/>
            <a:ext cx="7589520" cy="841248"/>
          </a:xfrm>
          <a:prstGeom prst="roundRect">
            <a:avLst>
              <a:gd name="adj" fmla="val 43478"/>
            </a:avLst>
          </a:prstGeom>
          <a:solidFill>
            <a:srgbClr val="DCDCEC"/>
          </a:solidFill>
          <a:ln w="12700">
            <a:solidFill>
              <a:srgbClr val="DCDC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1600200"/>
            <a:ext cx="71323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r>
              <a:rPr lang="en-US" sz="1250" dirty="0">
                <a:solidFill>
                  <a:srgbClr val="E83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decentralized, solar-powered mini cold-storage unit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farm-gate, village collection centres and FPOs in NER: a </a:t>
            </a:r>
            <a:r>
              <a:rPr lang="en-US" sz="1250" dirty="0">
                <a:solidFill>
                  <a:srgbClr val="E83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temporary storage buffer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between harvest and transport.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320040" y="2532888"/>
            <a:ext cx="7589520" cy="841248"/>
          </a:xfrm>
          <a:prstGeom prst="roundRect">
            <a:avLst>
              <a:gd name="adj" fmla="val 43478"/>
            </a:avLst>
          </a:prstGeom>
          <a:solidFill>
            <a:srgbClr val="DCDCEC"/>
          </a:solidFill>
          <a:ln w="12700">
            <a:solidFill>
              <a:srgbClr val="DCDCE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2532888"/>
            <a:ext cx="71323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83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Insulated chamber + DC compressor refrigeration + forced-air circulation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fed by </a:t>
            </a:r>
            <a:r>
              <a:rPr lang="en-US" sz="1250" dirty="0">
                <a:solidFill>
                  <a:srgbClr val="E83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 PV → MPPT → Battery → DC bus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unreliable-grid and off-grid sites.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320040" y="3465576"/>
            <a:ext cx="7589520" cy="841248"/>
          </a:xfrm>
          <a:prstGeom prst="roundRect">
            <a:avLst>
              <a:gd name="adj" fmla="val 43478"/>
            </a:avLst>
          </a:prstGeom>
          <a:solidFill>
            <a:srgbClr val="DCDCEC"/>
          </a:solidFill>
          <a:ln w="12700">
            <a:solidFill>
              <a:srgbClr val="DCDCE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8640" y="3465576"/>
            <a:ext cx="71323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83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 closed-loop control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hysteresis holds crop-specific temperature and humidity; </a:t>
            </a:r>
            <a:r>
              <a:rPr lang="en-US" sz="1250" dirty="0">
                <a:solidFill>
                  <a:srgbClr val="E83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energy-aware modes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(Normal / Energy-Aware / Critical) protect produce on low battery.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320040" y="4398264"/>
            <a:ext cx="7589520" cy="841248"/>
          </a:xfrm>
          <a:prstGeom prst="roundRect">
            <a:avLst>
              <a:gd name="adj" fmla="val 43478"/>
            </a:avLst>
          </a:prstGeom>
          <a:solidFill>
            <a:srgbClr val="DCDCEC"/>
          </a:solidFill>
          <a:ln w="12700">
            <a:solidFill>
              <a:srgbClr val="DCDCE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4398264"/>
            <a:ext cx="71323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83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Fault detection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high temperature, door-open, low battery, solar-charging and cooling failure, with </a:t>
            </a:r>
            <a:r>
              <a:rPr lang="en-US" sz="1250" dirty="0">
                <a:solidFill>
                  <a:srgbClr val="E83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buzzer / LED / display alerts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that need no internet.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320040" y="5330952"/>
            <a:ext cx="7589520" cy="841248"/>
          </a:xfrm>
          <a:prstGeom prst="roundRect">
            <a:avLst>
              <a:gd name="adj" fmla="val 43478"/>
            </a:avLst>
          </a:prstGeom>
          <a:solidFill>
            <a:srgbClr val="DCDCEC"/>
          </a:solidFill>
          <a:ln w="12700">
            <a:solidFill>
              <a:srgbClr val="DCDCE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48640" y="5330952"/>
            <a:ext cx="71323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83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Offline-first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RTC + MicroSD logging with </a:t>
            </a:r>
            <a:r>
              <a:rPr lang="en-US" sz="1250" dirty="0">
                <a:solidFill>
                  <a:srgbClr val="E83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store-and-forward sync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(Wi-Fi and GSM ) and a simple crop-select interface. Exact set-points to be validated.</a:t>
            </a:r>
            <a:endParaRPr lang="en-US" sz="1250" dirty="0"/>
          </a:p>
        </p:txBody>
      </p:sp>
      <p:sp>
        <p:nvSpPr>
          <p:cNvPr id="30" name="Text 27"/>
          <p:cNvSpPr txBox="1"/>
          <p:nvPr/>
        </p:nvSpPr>
        <p:spPr>
          <a:xfrm>
            <a:off x="8229600" y="6172200"/>
            <a:ext cx="3657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" dirty="0">
                <a:solidFill>
                  <a:srgbClr val="FFFFFF"/>
                </a:solidFill>
              </a:rPr>
              <a:t>Physical cold storage is the product; IoT is the supporting layer.</a:t>
            </a:r>
            <a:endParaRPr lang="en-US" sz="1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4850F99-3177-CE5C-30C7-7FC6DAC592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8136" y="1823202"/>
            <a:ext cx="3974094" cy="397409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15B31DF4-B1A3-A762-1762-1EFA9C9299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9880" y="980526"/>
            <a:ext cx="8186384" cy="363742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0F9505F-F35E-47AE-CA91-6EE4555D41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36" y="933531"/>
            <a:ext cx="3735137" cy="2970585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320040" y="182880"/>
            <a:ext cx="1554480" cy="822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F5FA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18288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INVICTUS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2103120" y="24729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APPROACH</a:t>
            </a:r>
            <a:endParaRPr lang="en-US" sz="2600" dirty="0"/>
          </a:p>
        </p:txBody>
      </p:sp>
      <p:pic>
        <p:nvPicPr>
          <p:cNvPr id="5" name="Image 0" descr="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7400" y="19131"/>
            <a:ext cx="822960" cy="914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424609" y="-1806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5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4A5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4A5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Solar-Powered Smart Mini Cold Storage System for Fresh Vegetables in North Eastern Region (NER) with offline data Management and SHT Prediction</a:t>
            </a:r>
          </a:p>
          <a:p>
            <a:pPr algn="ctr"/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1836083" y="637476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3919880" y="5002644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A7E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Techstack Used: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4256854" y="5281636"/>
            <a:ext cx="3418737" cy="11916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 PV + MPPT controller</a:t>
            </a:r>
            <a:endParaRPr lang="en-US" sz="1100" b="1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(BESS) + DC protection</a:t>
            </a:r>
            <a:endParaRPr lang="en-US" sz="1100" b="1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 compressor refrigeration</a:t>
            </a:r>
            <a:endParaRPr lang="en-US" sz="1100" b="1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PU/PIR insulated chamber</a:t>
            </a:r>
            <a:endParaRPr lang="en-US" sz="1100" b="1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 (Arduino / ESP-IDF C++)</a:t>
            </a:r>
          </a:p>
        </p:txBody>
      </p:sp>
      <p:sp>
        <p:nvSpPr>
          <p:cNvPr id="12" name="Text 9"/>
          <p:cNvSpPr txBox="1"/>
          <p:nvPr/>
        </p:nvSpPr>
        <p:spPr>
          <a:xfrm>
            <a:off x="1313781" y="6000121"/>
            <a:ext cx="988064" cy="2541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 flipH="1">
            <a:off x="3838128" y="933531"/>
            <a:ext cx="14007" cy="507492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A75DBE3-C902-6BD1-465B-3DD56CB550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9342" y="3639255"/>
            <a:ext cx="3631041" cy="2340666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C0F91E1C-4A37-6225-828B-2AE674DA163C}"/>
              </a:ext>
            </a:extLst>
          </p:cNvPr>
          <p:cNvSpPr txBox="1"/>
          <p:nvPr/>
        </p:nvSpPr>
        <p:spPr>
          <a:xfrm>
            <a:off x="8080310" y="578179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C179D1E-CC2E-719D-2A95-F20C155AFF1B}"/>
              </a:ext>
            </a:extLst>
          </p:cNvPr>
          <p:cNvSpPr txBox="1"/>
          <p:nvPr/>
        </p:nvSpPr>
        <p:spPr>
          <a:xfrm>
            <a:off x="7036682" y="5282155"/>
            <a:ext cx="2381638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buSzPct val="100000"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Digital temp + RH sensors</a:t>
            </a:r>
            <a:endParaRPr lang="en-US" sz="1100" b="1" dirty="0"/>
          </a:p>
          <a:p>
            <a:pPr>
              <a:spcAft>
                <a:spcPts val="300"/>
              </a:spcAft>
              <a:buSzPct val="100000"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Reed switch, V/I sensors</a:t>
            </a:r>
            <a:endParaRPr lang="en-US" sz="1100" b="1" dirty="0"/>
          </a:p>
          <a:p>
            <a:pPr>
              <a:spcAft>
                <a:spcPts val="300"/>
              </a:spcAft>
              <a:buSzPct val="100000"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RTC + MicroSD, OLED/LCD</a:t>
            </a:r>
            <a:endParaRPr lang="en-US" sz="1100" b="1" dirty="0"/>
          </a:p>
          <a:p>
            <a:pPr>
              <a:spcAft>
                <a:spcPts val="300"/>
              </a:spcAft>
              <a:buSzPct val="100000"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Wi-Fi / GSM / LoRa (optional)</a:t>
            </a:r>
            <a:endParaRPr lang="en-US" sz="1100" b="1" dirty="0"/>
          </a:p>
          <a:p>
            <a:pPr>
              <a:spcAft>
                <a:spcPts val="300"/>
              </a:spcAft>
              <a:buSzPct val="100000"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Web dashboard (optional)</a:t>
            </a:r>
            <a:endParaRPr lang="en-US" sz="11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5DDD451-F32D-0C0F-581E-8ABE8D2F7DB4}"/>
              </a:ext>
            </a:extLst>
          </p:cNvPr>
          <p:cNvSpPr txBox="1"/>
          <p:nvPr/>
        </p:nvSpPr>
        <p:spPr>
          <a:xfrm>
            <a:off x="7675591" y="4580239"/>
            <a:ext cx="16717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554480" cy="822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F5FA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18288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INVICTUS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2103120" y="1828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AND VIABILITY</a:t>
            </a:r>
            <a:endParaRPr lang="en-US" sz="2600" dirty="0"/>
          </a:p>
        </p:txBody>
      </p:sp>
      <p:pic>
        <p:nvPicPr>
          <p:cNvPr id="5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137160"/>
            <a:ext cx="822960" cy="914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515600" y="1828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5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4A5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4A5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Solar-Powered Smart Mini Cold Storage System for Fresh Vegetables in North Eastern Region (NER) with offline data Management and SHT Prediction</a:t>
            </a:r>
          </a:p>
          <a:p>
            <a:pPr algn="ctr"/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1841480" y="637794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2647806"/>
              </p:ext>
            </p:extLst>
          </p:nvPr>
        </p:nvGraphicFramePr>
        <p:xfrm>
          <a:off x="320040" y="1234440"/>
          <a:ext cx="11521440" cy="342900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Analysis of the feasibility of the idea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Potential challenges and risks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7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Strategies for overcoming these challenges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Technical – Achievable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Sizing solar, battery and cooling load for NER climate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7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Cooling-load and energy calculations </a:t>
                      </a:r>
                      <a:r>
                        <a:rPr lang="en-US" sz="1200" dirty="0">
                          <a:solidFill>
                            <a:srgbClr val="E838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before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hardware selection; proven </a:t>
                      </a:r>
                      <a:r>
                        <a:rPr lang="en-US" sz="1200" dirty="0">
                          <a:solidFill>
                            <a:srgbClr val="E838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 refrigeration, MPPT and standard sensors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; ratings validated on the prototype.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Reliability – Resilient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Cloudy / rainy days, night, grid outages, no network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7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38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Solar + battery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with </a:t>
                      </a:r>
                      <a:r>
                        <a:rPr lang="en-US" sz="1200" dirty="0">
                          <a:solidFill>
                            <a:srgbClr val="E838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energy-aware / critical modes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; </a:t>
                      </a:r>
                      <a:r>
                        <a:rPr lang="en-US" sz="1200" dirty="0">
                          <a:solidFill>
                            <a:srgbClr val="E838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offline-first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control, alerts and logging; fault detection for cooling, door and solar failure.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Operational – Practical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400" b="1" dirty="0">
                          <a:solidFill>
                            <a:schemeClr val="bg1"/>
                          </a:solidFill>
                        </a:rPr>
                        <a:t>Unreliable power &amp; connectivity; limited </a:t>
                      </a:r>
                      <a:r>
                        <a:rPr lang="en-IN" sz="13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cold-storage</a:t>
                      </a:r>
                      <a:r>
                        <a:rPr lang="en-IN" sz="1400" b="1" dirty="0">
                          <a:solidFill>
                            <a:schemeClr val="bg1"/>
                          </a:solidFill>
                        </a:rPr>
                        <a:t> access; limited technical support</a:t>
                      </a:r>
                      <a:endParaRPr lang="en-US" sz="1300" b="1" dirty="0">
                        <a:solidFill>
                          <a:schemeClr val="bg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7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Local data storage + cloud synchronization, </a:t>
                      </a:r>
                      <a:r>
                        <a:rPr lang="en-IN" sz="12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Safe Holdover Time Prediction</a:t>
                      </a: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intelligent alerts, farmer-friendly crop selection, local status display, offline-first operation, </a:t>
                      </a:r>
                      <a:r>
                        <a:rPr lang="en-IN" sz="12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weather-resistant modular unit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.</a:t>
                      </a:r>
                      <a:endParaRPr lang="en-US" sz="1200" dirty="0">
                        <a:latin typeface="Arial" panose="020B0604020202020204" pitchFamily="34" charset="0"/>
                        <a:ea typeface="Arial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320040" y="4892040"/>
            <a:ext cx="1152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7E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Given that feasibility and viability are our top priority we will ensure to keep everything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320040" y="5257800"/>
            <a:ext cx="11521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4A7E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Technically viable – </a:t>
            </a:r>
            <a:r>
              <a:rPr lang="en-US" sz="1300" dirty="0">
                <a:solidFill>
                  <a:srgbClr val="4A7E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existing solar, DC refrigeration and ESP32 technology; one or two crops validated first.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4A7E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Economically feasible – </a:t>
            </a:r>
            <a:r>
              <a:rPr lang="en-US" sz="1300" dirty="0">
                <a:solidFill>
                  <a:srgbClr val="4A7E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modular units for FPO / collection-centre deployment; cost to be worked out after design.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4A7E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Environmentally sound – </a:t>
            </a:r>
            <a:r>
              <a:rPr lang="en-US" sz="1300" dirty="0">
                <a:solidFill>
                  <a:srgbClr val="4A7E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renewable solar energy, energy-efficient cooling, designed to cut post-harvest and transport losses.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554480" cy="822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F5FA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18288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INVICTUS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2103120" y="1828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AND BENEFITS</a:t>
            </a:r>
            <a:endParaRPr lang="en-US" sz="2600" dirty="0"/>
          </a:p>
        </p:txBody>
      </p:sp>
      <p:pic>
        <p:nvPicPr>
          <p:cNvPr id="5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137160"/>
            <a:ext cx="822960" cy="914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515600" y="1828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5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4A5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4A5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Solar-Powered Smart Mini Cold Storage System for Fresh Vegetables in North Eastern Region (NER) with offline data Management and SHT Prediction</a:t>
            </a:r>
          </a:p>
          <a:p>
            <a:pPr algn="ctr"/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1899143" y="642366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" y="1188720"/>
            <a:ext cx="5669280" cy="3931920"/>
          </a:xfrm>
          <a:prstGeom prst="roundRect">
            <a:avLst>
              <a:gd name="adj" fmla="val 3488"/>
            </a:avLst>
          </a:prstGeom>
          <a:solidFill>
            <a:srgbClr val="FDE3E3"/>
          </a:solidFill>
          <a:ln w="12700">
            <a:solidFill>
              <a:srgbClr val="FDE3E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4360" y="1097280"/>
            <a:ext cx="5120640" cy="4572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25400">
            <a:solidFill>
              <a:srgbClr val="F06BA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94360" y="10972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 Impact on Target Audience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1691640"/>
            <a:ext cx="52120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Farmers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to reduce forced immediate sale and spoilage; flexible transport timing.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FPOs &amp; Cooperatives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Shared, monitored local storage at aggregation points.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Village collection centres / traders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produce handling before transport to markets.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Remote NER communities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Cold-chain access without depending on grid supply.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Government / MDoNER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 decentralized horticulture cold-chain model.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099048" y="1188720"/>
            <a:ext cx="0" cy="393192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</a:ln>
        </p:spPr>
      </p:sp>
      <p:sp>
        <p:nvSpPr>
          <p:cNvPr id="15" name="Shape 12"/>
          <p:cNvSpPr/>
          <p:nvPr/>
        </p:nvSpPr>
        <p:spPr>
          <a:xfrm>
            <a:off x="6217920" y="1188720"/>
            <a:ext cx="5669280" cy="3931920"/>
          </a:xfrm>
          <a:prstGeom prst="roundRect">
            <a:avLst>
              <a:gd name="adj" fmla="val 3488"/>
            </a:avLst>
          </a:prstGeom>
          <a:solidFill>
            <a:srgbClr val="BFEFF7"/>
          </a:solidFill>
          <a:ln w="12700">
            <a:solidFill>
              <a:srgbClr val="BFEFF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92240" y="1097280"/>
            <a:ext cx="5120640" cy="4572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25400">
            <a:solidFill>
              <a:srgbClr val="F06BA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92240" y="10972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 of the solution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6446520" y="1691640"/>
            <a:ext cx="52120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Social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Improves farmer bargaining flexibility; supports cooperatives.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Economic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to improve income opportunity by cutting losses.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Environmental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Renewable solar energy; less wasted produce and transport.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Technological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Energy-aware, offline-first rural embedded system.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Strategic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Replicable modular units across horticultural clusters.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320040" y="5212080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impacts are design intents, to be validated through prototype testing: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320040" y="553212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EDEDED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20040" y="5532120"/>
            <a:ext cx="13716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 stability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1764792" y="553212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EDEDED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764792" y="5532120"/>
            <a:ext cx="13716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Cooling response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3209544" y="553212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EDEDED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3209544" y="5532120"/>
            <a:ext cx="13716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 charging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654296" y="553212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EDEDED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654296" y="5532120"/>
            <a:ext cx="13716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backup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6099048" y="553212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EDEDED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096000" y="5532120"/>
            <a:ext cx="13716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/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Holdover Time Prediction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7543800" y="553212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EDEDED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543800" y="5532120"/>
            <a:ext cx="13716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response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8988552" y="553212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EDEDED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988552" y="5532120"/>
            <a:ext cx="13716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log retention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10433304" y="553212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EDEDED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10433304" y="5532120"/>
            <a:ext cx="13716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Vegetable quality check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554480" cy="822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F5FA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18288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INVICTUS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2103120" y="1828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 AND REFERENCES</a:t>
            </a:r>
            <a:endParaRPr lang="en-US" sz="2600" dirty="0"/>
          </a:p>
        </p:txBody>
      </p:sp>
      <p:pic>
        <p:nvPicPr>
          <p:cNvPr id="5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137160"/>
            <a:ext cx="822960" cy="914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515600" y="1828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5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4A5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4A5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Solar-Powered Smart Mini Cold Storage System for Fresh Vegetables in North Eastern Region (NER) with offline data Management and SHT Prediction</a:t>
            </a:r>
          </a:p>
          <a:p>
            <a:pPr algn="ctr"/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320040" y="1097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Survey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417320"/>
          <a:ext cx="11521440" cy="219456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Aspect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C2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Conventional Systems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C2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Proposed System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C2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C2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Large centralized cold rooms, far from farms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Decentralized farm-gate / village mini units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Power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C2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Grid-dependent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Solar + battery, energy-aware operation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C2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Basic thermostat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Closed-loop, crop-specific profiles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Monitoring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C2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Manual checks, network-dependent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Offline-first logging + local alerts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Faults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C2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Found after damage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Cooling / door / solar fault detection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320040" y="3749040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320040" y="4023360"/>
            <a:ext cx="115214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FAO, “Global Food Losses and Food Waste – Extent, Causes and Prevention”, Rome (2011).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 ICAR-CIPHET, “Assessment of Quantitative Harvest and Post-Harvest Losses of Major Crops and Commodities in India”, Ludhiana (2015).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 National Centre for Cold-chain Development (NCCD) and National Horticulture Board (NHB): cold-chain infrastructure and horticulture data.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[4] MNRE / NABARD: solar-powered cold storage and agri-infrastructure guidelines.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[5] Peer-reviewed literature on solar PV–battery DC refrigeration and small-scale vegetable cold storage (to be shortlisted).</a:t>
            </a:r>
            <a:endParaRPr lang="en-US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320040" y="5806440"/>
            <a:ext cx="11521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sources are institutional; exact editions and links to be verified before submission. No performance figures are claimed.</a:t>
            </a:r>
            <a:endParaRPr lang="en-US" sz="1100" dirty="0"/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9582E103-446A-6D0A-D486-E185E73D3F81}"/>
              </a:ext>
            </a:extLst>
          </p:cNvPr>
          <p:cNvSpPr txBox="1"/>
          <p:nvPr/>
        </p:nvSpPr>
        <p:spPr>
          <a:xfrm>
            <a:off x="11841480" y="6356013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</TotalTime>
  <Words>1016</Words>
  <Application>Microsoft Office PowerPoint</Application>
  <PresentationFormat>Widescreen</PresentationFormat>
  <Paragraphs>141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Manoj kumar</cp:lastModifiedBy>
  <cp:revision>12</cp:revision>
  <dcterms:created xsi:type="dcterms:W3CDTF">2026-09-29T10:54:23Z</dcterms:created>
  <dcterms:modified xsi:type="dcterms:W3CDTF">2026-09-30T07:59:44Z</dcterms:modified>
</cp:coreProperties>
</file>